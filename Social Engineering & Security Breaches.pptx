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JetBrains Mono"/>
      <p:bold r:id="rId11"/>
    </p:embeddedFont>
    <p:embeddedFont>
      <p:font typeface="Space Grotesk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4210942"/>
            <a:ext cx="762000" cy="38100"/>
          </a:xfrm>
          <a:prstGeom prst="rect">
            <a:avLst/>
          </a:prstGeom>
          <a:solidFill>
            <a:srgbClr val="FF0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95812" y="1656457"/>
            <a:ext cx="3000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0F0FF"/>
                </a:solidFill>
                <a:latin typeface="JetBrains Mono"/>
              </a:rPr>
              <a:t>SYS_READY // GMIU_ASSIGNMENT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37" y="2132707"/>
            <a:ext cx="12049125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FFFFFF"/>
                </a:solidFill>
                <a:latin typeface="Space Grotesk"/>
              </a:rPr>
              <a:t>Social Engineering Attacks and Major Security Breaches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9015" y="3458467"/>
            <a:ext cx="889396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A5B4CB"/>
                </a:solidFill>
                <a:latin typeface="Space Grotesk"/>
              </a:rPr>
              <a:t>Understanding Cyber Threats, Attack Techniques and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82442"/>
            <a:ext cx="1352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F0FF"/>
                </a:solidFill>
                <a:latin typeface="JetBrains Mono"/>
              </a:rPr>
              <a:t>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3466" y="5030092"/>
            <a:ext cx="92653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dirty="0">
                <a:solidFill>
                  <a:srgbClr val="FFFFFF"/>
                </a:solidFill>
                <a:latin typeface="JetBrains Mono"/>
              </a:rPr>
              <a:t>NIKUNJ PARMAR</a:t>
            </a:r>
            <a:endParaRPr sz="1050" b="0" i="0" u="none" dirty="0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24400" y="4782442"/>
            <a:ext cx="1809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F0FF"/>
                </a:solidFill>
                <a:latin typeface="JetBrains Mono"/>
              </a:rPr>
              <a:t>ENROLLMENT 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400" y="5030092"/>
            <a:ext cx="82715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FFFFF"/>
                </a:solidFill>
                <a:latin typeface="JetBrains Mono"/>
              </a:rPr>
              <a:t>241105060100</a:t>
            </a:r>
            <a:endParaRPr sz="1050" b="0" i="0" u="none" dirty="0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29400" y="4782442"/>
            <a:ext cx="1352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F0FF"/>
                </a:solidFill>
                <a:latin typeface="JetBrains Mono"/>
              </a:rPr>
              <a:t>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5030092"/>
            <a:ext cx="22121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dirty="0">
                <a:solidFill>
                  <a:srgbClr val="FFFFFF"/>
                </a:solidFill>
                <a:latin typeface="JetBrains Mono"/>
              </a:rPr>
              <a:t>CNS</a:t>
            </a:r>
            <a:endParaRPr sz="1050" b="0" i="0" u="none" dirty="0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53400" y="4782442"/>
            <a:ext cx="1123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F0FF"/>
                </a:solidFill>
                <a:latin typeface="JetBrains Mono"/>
              </a:rPr>
              <a:t>INSTITUTION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3400" y="5030092"/>
            <a:ext cx="11239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JetBrains Mono"/>
              </a:rPr>
              <a:t>GMIU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609600"/>
            <a:ext cx="5200650" cy="5638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628650"/>
            <a:ext cx="5162550" cy="5600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481387"/>
            <a:ext cx="2857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919537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357687"/>
            <a:ext cx="2000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795837"/>
            <a:ext cx="2571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824037"/>
            <a:ext cx="6453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B60B0"/>
                </a:solidFill>
                <a:latin typeface="JetBrains Mono"/>
              </a:rPr>
              <a:t>CONCEPT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147887"/>
            <a:ext cx="6775846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>
                <a:solidFill>
                  <a:srgbClr val="070F2B"/>
                </a:solidFill>
                <a:latin typeface="Space Grotesk"/>
              </a:rPr>
              <a:t>Hacking the Human Mind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871787"/>
            <a:ext cx="645318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233A"/>
                </a:solidFill>
                <a:latin typeface="Space Grotesk"/>
              </a:rPr>
              <a:t>Exploiting psychology over technical flaws.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3471862"/>
            <a:ext cx="601503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B60B0"/>
                </a:solidFill>
                <a:latin typeface="Space Grotesk"/>
              </a:rPr>
              <a:t>Trust: Impersonating authority or colleagues.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3910012"/>
            <a:ext cx="60721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F004D"/>
                </a:solidFill>
                <a:latin typeface="Space Grotesk"/>
              </a:rPr>
              <a:t>Fear: Threatening account suspension or legal 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348162"/>
            <a:ext cx="61007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B60B0"/>
                </a:solidFill>
                <a:latin typeface="Space Grotesk"/>
              </a:rPr>
              <a:t>Urgency: Demanding immediate wire transfers.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786312"/>
            <a:ext cx="604361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B60B0"/>
                </a:solidFill>
                <a:latin typeface="Space Grotesk"/>
              </a:rPr>
              <a:t>Curiosity: Baiting with hidden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5125" y="1933575"/>
            <a:ext cx="3401466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5192" y="1833562"/>
            <a:ext cx="3401466" cy="1828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5258" y="1833562"/>
            <a:ext cx="3401466" cy="1828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580233" y="4343400"/>
            <a:ext cx="3401466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4243387"/>
            <a:ext cx="3401466" cy="1828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50" y="224790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517" y="2147887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583" y="2147887"/>
            <a:ext cx="2286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4558" y="4657725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4557712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B60B0"/>
                </a:solidFill>
                <a:latin typeface="JetBrains Mono"/>
              </a:rPr>
              <a:t>ATTACK VECTORS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93345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>
                <a:solidFill>
                  <a:srgbClr val="070F2B"/>
                </a:solidFill>
                <a:latin typeface="Space Grotesk"/>
              </a:rPr>
              <a:t>Types of Social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450" y="2705100"/>
            <a:ext cx="36393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70F2B"/>
                </a:solidFill>
                <a:latin typeface="Space Grotesk"/>
              </a:rPr>
              <a:t>Phishing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450" y="3048000"/>
            <a:ext cx="34660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Fake emails and cloned websites.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517" y="2605087"/>
            <a:ext cx="36393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70F2B"/>
                </a:solidFill>
                <a:latin typeface="Space Grotesk"/>
              </a:rPr>
              <a:t>Pretexting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517" y="2947987"/>
            <a:ext cx="286806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Creating fabricated identities or stories.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583" y="2605087"/>
            <a:ext cx="36393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70F2B"/>
                </a:solidFill>
                <a:latin typeface="Space Grotesk"/>
              </a:rPr>
              <a:t>Baiting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583" y="2947987"/>
            <a:ext cx="286806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Offering attractive items to trick victims.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4558" y="5114925"/>
            <a:ext cx="36393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70F2B"/>
                </a:solidFill>
                <a:latin typeface="Space Grotesk"/>
              </a:rPr>
              <a:t>Vishing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4558" y="5457825"/>
            <a:ext cx="34660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Fraudulent high-pressure phone calls.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625" y="5014912"/>
            <a:ext cx="36393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70F2B"/>
                </a:solidFill>
                <a:latin typeface="Space Grotesk"/>
              </a:rPr>
              <a:t>Smishing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5357812"/>
            <a:ext cx="286806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pace Grotesk"/>
              </a:rPr>
              <a:t>Deceptive SMS messages with malicious links.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B60B0"/>
                </a:solidFill>
                <a:latin typeface="JetBrains Mono"/>
              </a:rPr>
              <a:t>THE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3345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>
                <a:solidFill>
                  <a:srgbClr val="070F2B"/>
                </a:solidFill>
                <a:latin typeface="Space Grotesk"/>
              </a:rPr>
              <a:t>How the Attack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5850" y="2266950"/>
            <a:ext cx="100203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81100" y="3252787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70F2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48050" y="3338512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70F2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15000" y="3338512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70F2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81950" y="3252787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70F2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48900" y="3252787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70F2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8225" y="3252787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 i="0" u="none">
                <a:solidFill>
                  <a:srgbClr val="00F0FF"/>
                </a:solidFill>
                <a:latin typeface="JetBrains Mon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006" y="4243387"/>
            <a:ext cx="149018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70F2B"/>
                </a:solidFill>
                <a:latin typeface="Space Grotesk"/>
              </a:rPr>
              <a:t>Fake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" y="4538662"/>
            <a:ext cx="2381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Space Grotesk"/>
              </a:rPr>
              <a:t>Attacker creates deceptive urgency.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5175" y="3338512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 i="0" u="none">
                <a:solidFill>
                  <a:srgbClr val="00F0FF"/>
                </a:solidFill>
                <a:latin typeface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987" y="4329112"/>
            <a:ext cx="1000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70F2B"/>
                </a:solidFill>
                <a:latin typeface="Space Grotesk"/>
              </a:rPr>
              <a:t>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4143" y="4624387"/>
            <a:ext cx="2309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Space Grotesk"/>
              </a:rPr>
              <a:t>Victim receives email or SMS.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2125" y="3338512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 i="0" u="none">
                <a:solidFill>
                  <a:srgbClr val="FF004D"/>
                </a:solidFill>
                <a:latin typeface="JetBrai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0920" y="4329112"/>
            <a:ext cx="127015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70F2B"/>
                </a:solidFill>
                <a:latin typeface="Space Grotesk"/>
              </a:rPr>
              <a:t>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0390" y="4624387"/>
            <a:ext cx="21312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Space Grotesk"/>
              </a:rPr>
              <a:t>Victim clicks malicious link.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9075" y="3252787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 i="0" u="none">
                <a:solidFill>
                  <a:srgbClr val="FF004D"/>
                </a:solidFill>
                <a:latin typeface="JetBrai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2868" y="4243387"/>
            <a:ext cx="13001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70F2B"/>
                </a:solidFill>
                <a:latin typeface="Space Grotesk"/>
              </a:rPr>
              <a:t>Data Stolen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2325" y="4538662"/>
            <a:ext cx="2381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Space Grotesk"/>
              </a:rPr>
              <a:t>Fake portal captures credentials.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6025" y="3252787"/>
            <a:ext cx="10477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 i="0" u="none">
                <a:solidFill>
                  <a:srgbClr val="F8FAFC"/>
                </a:solidFill>
                <a:latin typeface="JetBrai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4808" y="4243387"/>
            <a:ext cx="14701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70F2B"/>
                </a:solidFill>
                <a:latin typeface="Space Grotesk"/>
              </a:rPr>
              <a:t>Compromised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9275" y="4538662"/>
            <a:ext cx="23812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Space Grotesk"/>
              </a:rPr>
              <a:t>Unauthorized network access achieved.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314575"/>
            <a:ext cx="3454449" cy="3276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68849" y="2414587"/>
            <a:ext cx="3454449" cy="307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28099" y="2314575"/>
            <a:ext cx="3454449" cy="3276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314575"/>
            <a:ext cx="3454449" cy="3810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68849" y="2414587"/>
            <a:ext cx="3454449" cy="38100"/>
          </a:xfrm>
          <a:prstGeom prst="rect">
            <a:avLst/>
          </a:prstGeom>
          <a:solidFill>
            <a:srgbClr val="FF0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28099" y="2314575"/>
            <a:ext cx="3454449" cy="38100"/>
          </a:xfrm>
          <a:prstGeom prst="rect">
            <a:avLst/>
          </a:prstGeom>
          <a:solidFill>
            <a:srgbClr val="0B6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B60B0"/>
                </a:solidFill>
                <a:latin typeface="JetBrains Mono"/>
              </a:rPr>
              <a:t>CASE STUDIES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3345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>
                <a:solidFill>
                  <a:srgbClr val="070F2B"/>
                </a:solidFill>
                <a:latin typeface="Space Grotesk"/>
              </a:rPr>
              <a:t>Major Real-World Security Breaches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7475"/>
            <a:ext cx="373386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70F2B"/>
                </a:solidFill>
                <a:latin typeface="Space Grotesk"/>
              </a:rPr>
              <a:t>Twitter (2020)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49" y="2757487"/>
            <a:ext cx="373386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70F2B"/>
                </a:solidFill>
                <a:latin typeface="Space Grotesk"/>
              </a:rPr>
              <a:t>Target (2013)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2899" y="2657475"/>
            <a:ext cx="373386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70F2B"/>
                </a:solidFill>
                <a:latin typeface="Space Grotesk"/>
              </a:rPr>
              <a:t>Uber (2022)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2897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60B0"/>
                </a:solidFill>
                <a:latin typeface="Space Grotesk"/>
              </a:rPr>
              <a:t>Incident: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High-profile accounts hijacked.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8142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60B0"/>
                </a:solidFill>
                <a:latin typeface="Space Grotesk"/>
              </a:rPr>
              <a:t>Method: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Phone spear-phishing employees.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3387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60B0"/>
                </a:solidFill>
                <a:latin typeface="Space Grotesk"/>
              </a:rPr>
              <a:t>Impact: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Massive cryptocurrency scam.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8632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60B0"/>
                </a:solidFill>
                <a:latin typeface="Space Grotesk"/>
              </a:rPr>
              <a:t>Lesson: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Strict internal access limits needed.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3649" y="3328987"/>
            <a:ext cx="355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4D"/>
                </a:solidFill>
                <a:latin typeface="Space Grotesk"/>
              </a:rPr>
              <a:t>Incident: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40M payment cards exposed.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649" y="3681412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4D"/>
                </a:solidFill>
                <a:latin typeface="Space Grotesk"/>
              </a:rPr>
              <a:t>Method: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Phishing an external HVAC vendor.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3649" y="4233862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4D"/>
                </a:solidFill>
                <a:latin typeface="Space Grotesk"/>
              </a:rPr>
              <a:t>Impact: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Unrestricted lateral network movement.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3649" y="4786312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004D"/>
                </a:solidFill>
                <a:latin typeface="Space Grotesk"/>
              </a:rPr>
              <a:t>Lesson: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Vendor risk management is critical.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899" y="322897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60B0"/>
                </a:solidFill>
                <a:latin typeface="Space Grotesk"/>
              </a:rPr>
              <a:t>Incident: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Deep internal infrastructure breach.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899" y="378142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60B0"/>
                </a:solidFill>
                <a:latin typeface="Space Grotesk"/>
              </a:rPr>
              <a:t>Method: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Social engineering via MFA fatigue.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99" y="433387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60B0"/>
                </a:solidFill>
                <a:latin typeface="Space Grotesk"/>
              </a:rPr>
              <a:t>Impact: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Source code and Slack databases exposed.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2899" y="4886325"/>
            <a:ext cx="29400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B60B0"/>
                </a:solidFill>
                <a:latin typeface="Space Grotesk"/>
              </a:rPr>
              <a:t>Lesson:</a:t>
            </a:r>
            <a:r>
              <a:rPr sz="1200" b="0" i="0" u="none">
                <a:solidFill>
                  <a:srgbClr val="334155"/>
                </a:solidFill>
                <a:latin typeface="Space Grotesk"/>
              </a:rPr>
              <a:t> Upgrade and rate-limit MFA methods.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5181600" cy="5638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62237"/>
            <a:ext cx="19050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138487"/>
            <a:ext cx="1428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614737"/>
            <a:ext cx="23812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090987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567237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5043487"/>
            <a:ext cx="171450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590675"/>
            <a:ext cx="5791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B60B0"/>
                </a:solidFill>
                <a:latin typeface="JetBrains Mono"/>
              </a:rPr>
              <a:t>DEFENSE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14525"/>
            <a:ext cx="57912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3000" b="1" i="0" u="none">
                <a:solidFill>
                  <a:srgbClr val="070F2B"/>
                </a:solidFill>
                <a:latin typeface="Space Grotesk"/>
              </a:rPr>
              <a:t>Prevention Strategies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800" y="2638425"/>
            <a:ext cx="54102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B60B0"/>
                </a:solidFill>
                <a:latin typeface="Space Grotesk"/>
              </a:rPr>
              <a:t>Deploy strong, unique passwords.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800" y="3114675"/>
            <a:ext cx="54102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B60B0"/>
                </a:solidFill>
                <a:latin typeface="Space Grotesk"/>
              </a:rPr>
              <a:t>Enforce Multi-Factor Authentication.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3590925"/>
            <a:ext cx="54102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F004D"/>
                </a:solidFill>
                <a:latin typeface="Space Grotesk"/>
              </a:rPr>
              <a:t>Never click unverified links.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4067175"/>
            <a:ext cx="54102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B60B0"/>
                </a:solidFill>
                <a:latin typeface="Space Grotesk"/>
              </a:rPr>
              <a:t>Verify requests via secondary channels.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4543425"/>
            <a:ext cx="54102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F004D"/>
                </a:solidFill>
                <a:latin typeface="Space Grotesk"/>
              </a:rPr>
              <a:t>Ban usage of unknown USB devices.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5019675"/>
            <a:ext cx="54102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B60B0"/>
                </a:solidFill>
                <a:latin typeface="Space Grotesk"/>
              </a:rPr>
              <a:t>Provide regular security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809750"/>
            <a:ext cx="5181600" cy="4438650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0" y="1809750"/>
            <a:ext cx="5181600" cy="4438650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1809750"/>
            <a:ext cx="5181600" cy="7620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0" y="1809750"/>
            <a:ext cx="5181600" cy="76200"/>
          </a:xfrm>
          <a:prstGeom prst="rect">
            <a:avLst/>
          </a:prstGeom>
          <a:solidFill>
            <a:srgbClr val="FF0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38125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38125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B60B0"/>
                </a:solidFill>
                <a:latin typeface="JetBrains Mono"/>
              </a:rPr>
              <a:t>OPERATIONAL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381000" y="933450"/>
            <a:ext cx="12954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sz="3000" b="1" i="0" u="none">
                <a:solidFill>
                  <a:srgbClr val="070F2B"/>
                </a:solidFill>
                <a:latin typeface="Space Grotesk"/>
              </a:rPr>
              <a:t>Do's and Don'ts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2343150"/>
            <a:ext cx="5120640" cy="381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343150"/>
            <a:ext cx="4876800" cy="381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004D"/>
                </a:solidFill>
                <a:latin typeface="Space Grotesk"/>
              </a:rPr>
              <a:t>DON'T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02895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233A"/>
                </a:solidFill>
                <a:latin typeface="Space Grotesk"/>
              </a:rPr>
              <a:t>Verify sender identities before replying.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50520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233A"/>
                </a:solidFill>
                <a:latin typeface="Space Grotesk"/>
              </a:rPr>
              <a:t>Inspect URL domains for typos.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98145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233A"/>
                </a:solidFill>
                <a:latin typeface="Space Grotesk"/>
              </a:rPr>
              <a:t>Report suspicious messages to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45770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233A"/>
                </a:solidFill>
                <a:latin typeface="Space Grotesk"/>
              </a:rPr>
              <a:t>Protect personal operational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02895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233A"/>
                </a:solidFill>
                <a:latin typeface="Space Grotesk"/>
              </a:rPr>
              <a:t>Never share OTPs or passwords.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50520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233A"/>
                </a:solidFill>
                <a:latin typeface="Space Grotesk"/>
              </a:rPr>
              <a:t>Avoid opening unknown attachments.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98145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233A"/>
                </a:solidFill>
                <a:latin typeface="Space Grotesk"/>
              </a:rPr>
              <a:t>Ignore unexpected prize notifications.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45770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233A"/>
                </a:solidFill>
                <a:latin typeface="Space Grotesk"/>
              </a:rPr>
              <a:t>Do not connect found USB drives.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454622"/>
            <a:ext cx="6096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3369022"/>
            <a:ext cx="9001125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FFFFFF"/>
                </a:solidFill>
                <a:latin typeface="Space Grotesk"/>
              </a:rPr>
              <a:t>Stay Secure. Stay Vigilant.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7828" y="4108102"/>
            <a:ext cx="503634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A5B4CB"/>
                </a:solidFill>
                <a:latin typeface="Space Grotesk"/>
              </a:rPr>
              <a:t>Thank you for your time. Questions?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7155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869569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Times New Roman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23937"/>
            <a:ext cx="80819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Times New Roman"/>
              </a:rPr>
              <a:t>https://images.stockcake.com/public/2/3/a/23a3e61b-a196-4d72-9545-faee77d5d5e0_large/cyberpunk-security-icon-stockcake.jpg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23962"/>
            <a:ext cx="175617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Times New Roman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Times New Roman"/>
              </a:rPr>
              <a:t>stockcake.com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399</Words>
  <Application>Microsoft Office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JetBrains Mono</vt:lpstr>
      <vt:lpstr>Times New Roman</vt:lpstr>
      <vt:lpstr>Calibri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AYUSH</dc:creator>
  <cp:keywords/>
  <dc:description>generated using python-pptx</dc:description>
  <cp:lastModifiedBy>ayush parmar</cp:lastModifiedBy>
  <cp:revision>2</cp:revision>
  <dcterms:created xsi:type="dcterms:W3CDTF">2013-01-27T09:14:16Z</dcterms:created>
  <dcterms:modified xsi:type="dcterms:W3CDTF">2026-10-30T11:22:12Z</dcterms:modified>
  <cp:category/>
</cp:coreProperties>
</file>